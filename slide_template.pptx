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consolata"/>
      <p:regular r:id="rId14"/>
      <p:bold r:id="rId15"/>
    </p:embeddedFont>
    <p:embeddedFont>
      <p:font typeface="Poppins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7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7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consolata-bold.fntdata"/><Relationship Id="rId14" Type="http://schemas.openxmlformats.org/officeDocument/2006/relationships/font" Target="fonts/Inconsolata-regular.fntdata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f0b28072a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f0b28072a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video/lesson title slides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Let's use title case for the main lesson/video title (above the horizontal line)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And sentence case for the subtitle (below the horizontal line)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3790ed43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3790ed43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 video/lesson title slides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Let's use title case for the main lesson/video title (above the horizontal line)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And sentence case for the subtitle (below the horizontal line)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c98bd66ee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c98bd66ee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are comfortable drafting video scripts here in the speaker notes feel free to do so. If you prefer to write in a document, template video script documents are also available.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[Click] Include this notation if you intend to animate in a bullet, an image, etc. You can also just accomplish this by copy-pasting this slide, and adding the new image or text to the second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regular lecture slides: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Use sentence case for titles (just capitalize the first word and any proper nouns)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4a2d1c5b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4a2d1c5b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regular lecture slides: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 sentence case for titles (just capitalize the first word and any proper nouns)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c98c1cdf9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c98c1cdf9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worry about syntax highlighting if that’s proving challenging, much of this may also be addressed with screen capture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c98c1cdf9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c98c1cdf9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regular lecture slides: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 sentence case for titles (just capitalize the first word and any proper nouns)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378ffda83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378ffda83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 video/lesson title slides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Let's use title case for the main lesson/video title (above the horizontal line)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And sentence case for the subtitle (below the horizontal line)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378ffda83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378ffda83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regular lecture slides: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 sentence case for titles (just capitalize the first word and any proper nouns)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dern Title">
  <p:cSld name="CUSTOM_2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44025" y="-72325"/>
            <a:ext cx="2620634" cy="5348703"/>
            <a:chOff x="0" y="-38100"/>
            <a:chExt cx="1357279" cy="2747433"/>
          </a:xfrm>
        </p:grpSpPr>
        <p:sp>
          <p:nvSpPr>
            <p:cNvPr id="10" name="Google Shape;10;p2"/>
            <p:cNvSpPr/>
            <p:nvPr/>
          </p:nvSpPr>
          <p:spPr>
            <a:xfrm>
              <a:off x="0" y="0"/>
              <a:ext cx="1357279" cy="2709333"/>
            </a:xfrm>
            <a:custGeom>
              <a:rect b="b" l="l" r="r" t="t"/>
              <a:pathLst>
                <a:path extrusionOk="0" h="2709333" w="1357279">
                  <a:moveTo>
                    <a:pt x="0" y="0"/>
                  </a:moveTo>
                  <a:lnTo>
                    <a:pt x="1357279" y="0"/>
                  </a:lnTo>
                  <a:lnTo>
                    <a:pt x="135727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37B94"/>
            </a:solidFill>
            <a:ln>
              <a:noFill/>
            </a:ln>
          </p:spPr>
        </p:sp>
        <p:sp>
          <p:nvSpPr>
            <p:cNvPr id="11" name="Google Shape;11;p2"/>
            <p:cNvSpPr txBox="1"/>
            <p:nvPr/>
          </p:nvSpPr>
          <p:spPr>
            <a:xfrm>
              <a:off x="0" y="-38100"/>
              <a:ext cx="1357200" cy="2747400"/>
            </a:xfrm>
            <a:prstGeom prst="rect">
              <a:avLst/>
            </a:prstGeom>
            <a:solidFill>
              <a:srgbClr val="F65B66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12;p2"/>
          <p:cNvSpPr/>
          <p:nvPr/>
        </p:nvSpPr>
        <p:spPr>
          <a:xfrm>
            <a:off x="334090" y="4414838"/>
            <a:ext cx="1908531" cy="428624"/>
          </a:xfrm>
          <a:custGeom>
            <a:rect b="b" l="l" r="r" t="t"/>
            <a:pathLst>
              <a:path extrusionOk="0" h="857248" w="3817061">
                <a:moveTo>
                  <a:pt x="0" y="0"/>
                </a:moveTo>
                <a:lnTo>
                  <a:pt x="3817060" y="0"/>
                </a:lnTo>
                <a:lnTo>
                  <a:pt x="3817060" y="857248"/>
                </a:lnTo>
                <a:lnTo>
                  <a:pt x="0" y="857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" name="Google Shape;13;p2"/>
          <p:cNvSpPr/>
          <p:nvPr/>
        </p:nvSpPr>
        <p:spPr>
          <a:xfrm rot="-5400000">
            <a:off x="1073576" y="1964906"/>
            <a:ext cx="1305514" cy="2057400"/>
          </a:xfrm>
          <a:custGeom>
            <a:rect b="b" l="l" r="r" t="t"/>
            <a:pathLst>
              <a:path extrusionOk="0" h="4114800" w="2611028">
                <a:moveTo>
                  <a:pt x="0" y="0"/>
                </a:moveTo>
                <a:lnTo>
                  <a:pt x="2611027" y="0"/>
                </a:lnTo>
                <a:lnTo>
                  <a:pt x="2611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" name="Google Shape;14;p2"/>
          <p:cNvSpPr/>
          <p:nvPr/>
        </p:nvSpPr>
        <p:spPr>
          <a:xfrm rot="5400000">
            <a:off x="-567444" y="484721"/>
            <a:ext cx="1305514" cy="2057400"/>
          </a:xfrm>
          <a:custGeom>
            <a:rect b="b" l="l" r="r" t="t"/>
            <a:pathLst>
              <a:path extrusionOk="0"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" name="Google Shape;15;p2"/>
          <p:cNvSpPr txBox="1"/>
          <p:nvPr>
            <p:ph type="ctrTitle"/>
          </p:nvPr>
        </p:nvSpPr>
        <p:spPr>
          <a:xfrm>
            <a:off x="3477758" y="1167122"/>
            <a:ext cx="53481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b="0" i="0" sz="45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477757" y="3366690"/>
            <a:ext cx="5348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0" i="0" sz="34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cxnSp>
        <p:nvCxnSpPr>
          <p:cNvPr id="17" name="Google Shape;17;p2"/>
          <p:cNvCxnSpPr/>
          <p:nvPr/>
        </p:nvCxnSpPr>
        <p:spPr>
          <a:xfrm flipH="1" rot="10800000">
            <a:off x="3664696" y="3158858"/>
            <a:ext cx="4974300" cy="5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assic Title">
  <p:cSld name="TITLE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3477758" y="1167122"/>
            <a:ext cx="53481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b="0" i="0" sz="45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3477757" y="3366690"/>
            <a:ext cx="5348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0" i="0" sz="34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rot="437297">
            <a:off x="-1215850" y="-283396"/>
            <a:ext cx="4126541" cy="5415147"/>
          </a:xfrm>
          <a:prstGeom prst="rect">
            <a:avLst/>
          </a:prstGeom>
          <a:solidFill>
            <a:srgbClr val="FBAD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22;p3"/>
          <p:cNvSpPr/>
          <p:nvPr/>
        </p:nvSpPr>
        <p:spPr>
          <a:xfrm rot="242377">
            <a:off x="-1500679" y="-181713"/>
            <a:ext cx="4126552" cy="5414706"/>
          </a:xfrm>
          <a:prstGeom prst="rect">
            <a:avLst/>
          </a:prstGeom>
          <a:solidFill>
            <a:srgbClr val="F65B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7252" y="1428754"/>
            <a:ext cx="2283890" cy="22860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3"/>
          <p:cNvCxnSpPr/>
          <p:nvPr/>
        </p:nvCxnSpPr>
        <p:spPr>
          <a:xfrm flipH="1" rot="10800000">
            <a:off x="3664696" y="3158858"/>
            <a:ext cx="4974300" cy="5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Guideline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74320" y="91356"/>
            <a:ext cx="86040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/>
        </p:nvSpPr>
        <p:spPr>
          <a:xfrm>
            <a:off x="6747134" y="4687300"/>
            <a:ext cx="213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Partner Name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4327" y="4655842"/>
            <a:ext cx="1650473" cy="370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" name="Google Shape;29;p4"/>
          <p:cNvCxnSpPr/>
          <p:nvPr/>
        </p:nvCxnSpPr>
        <p:spPr>
          <a:xfrm>
            <a:off x="-51297" y="3935035"/>
            <a:ext cx="920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with Guideline">
  <p:cSld name="TITLE_ONLY_1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274320" y="91356"/>
            <a:ext cx="86040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/>
        </p:nvSpPr>
        <p:spPr>
          <a:xfrm>
            <a:off x="6747134" y="4687300"/>
            <a:ext cx="213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Partner Name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4327" y="4655842"/>
            <a:ext cx="1650473" cy="370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" name="Google Shape;34;p5"/>
          <p:cNvCxnSpPr/>
          <p:nvPr/>
        </p:nvCxnSpPr>
        <p:spPr>
          <a:xfrm>
            <a:off x="-51297" y="3935035"/>
            <a:ext cx="920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274320" y="1032228"/>
            <a:ext cx="8604000" cy="3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Two Column with Guideline">
  <p:cSld name="TITLE_ONLY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/>
        </p:nvSpPr>
        <p:spPr>
          <a:xfrm>
            <a:off x="6747134" y="4687300"/>
            <a:ext cx="213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Partner Name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38" name="Google Shape;3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4327" y="4655842"/>
            <a:ext cx="1650473" cy="370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Google Shape;39;p6"/>
          <p:cNvCxnSpPr/>
          <p:nvPr/>
        </p:nvCxnSpPr>
        <p:spPr>
          <a:xfrm>
            <a:off x="-51297" y="3935035"/>
            <a:ext cx="920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0" name="Google Shape;40;p6"/>
          <p:cNvSpPr txBox="1"/>
          <p:nvPr>
            <p:ph type="title"/>
          </p:nvPr>
        </p:nvSpPr>
        <p:spPr>
          <a:xfrm>
            <a:off x="274320" y="91356"/>
            <a:ext cx="86040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274320" y="1032319"/>
            <a:ext cx="42405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4625445" y="1032318"/>
            <a:ext cx="42405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Dark with Guideline">
  <p:cSld name="BLANK_1_1_2">
    <p:bg>
      <p:bgPr>
        <a:solidFill>
          <a:schemeClr val="dk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body"/>
          </p:nvPr>
        </p:nvSpPr>
        <p:spPr>
          <a:xfrm>
            <a:off x="274325" y="217300"/>
            <a:ext cx="8604000" cy="4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i="0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048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i="0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048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i="0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i="0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048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i="0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048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3048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3048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indent="-3048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-51297" y="3935035"/>
            <a:ext cx="920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uideline">
  <p:cSld name="BLANK_1_1_1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8"/>
          <p:cNvCxnSpPr/>
          <p:nvPr/>
        </p:nvCxnSpPr>
        <p:spPr>
          <a:xfrm>
            <a:off x="-51297" y="3935035"/>
            <a:ext cx="920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No Guideline">
  <p:cSld name="TITLE_ONLY_1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274320" y="91356"/>
            <a:ext cx="86040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/>
        </p:nvSpPr>
        <p:spPr>
          <a:xfrm>
            <a:off x="6747134" y="4687300"/>
            <a:ext cx="213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Partner Name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1" name="Google Shape;5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4327" y="4655842"/>
            <a:ext cx="1650473" cy="37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No Guideline">
  <p:cSld name="TITLE_ONLY_1_2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274320" y="91356"/>
            <a:ext cx="86040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/>
        </p:nvSpPr>
        <p:spPr>
          <a:xfrm>
            <a:off x="6747134" y="4687300"/>
            <a:ext cx="213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Partner Name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5" name="Google Shape;5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4327" y="4655842"/>
            <a:ext cx="1650473" cy="3707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74320" y="1032228"/>
            <a:ext cx="8604000" cy="3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Two Column No Guideline">
  <p:cSld name="TITLE_ONLY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/>
        </p:nvSpPr>
        <p:spPr>
          <a:xfrm>
            <a:off x="6747134" y="4687300"/>
            <a:ext cx="213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Partner Name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9" name="Google Shape;5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4327" y="4655842"/>
            <a:ext cx="1650473" cy="37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1"/>
          <p:cNvSpPr txBox="1"/>
          <p:nvPr>
            <p:ph type="title"/>
          </p:nvPr>
        </p:nvSpPr>
        <p:spPr>
          <a:xfrm>
            <a:off x="274320" y="91356"/>
            <a:ext cx="86040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274320" y="1032319"/>
            <a:ext cx="42405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4625445" y="1032318"/>
            <a:ext cx="42405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Dark No Guideline">
  <p:cSld name="BLANK_1_1_2_1">
    <p:bg>
      <p:bgPr>
        <a:solidFill>
          <a:schemeClr val="dk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274325" y="217300"/>
            <a:ext cx="8604000" cy="4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i="0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048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i="0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048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i="0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i="0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048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i="0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048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3048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3048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indent="-3048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Mono"/>
              <a:buChar char="•"/>
              <a:defRPr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 Guideline">
  <p:cSld name="BLANK_1_1_1_1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74320" y="91356"/>
            <a:ext cx="86040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0" i="0" sz="2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1032319"/>
            <a:ext cx="8604000" cy="3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3477757" y="3366690"/>
            <a:ext cx="5348100" cy="124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Module name</a:t>
            </a:r>
            <a:endParaRPr/>
          </a:p>
        </p:txBody>
      </p:sp>
      <p:sp>
        <p:nvSpPr>
          <p:cNvPr id="71" name="Google Shape;71;p14"/>
          <p:cNvSpPr txBox="1"/>
          <p:nvPr>
            <p:ph type="ctrTitle"/>
          </p:nvPr>
        </p:nvSpPr>
        <p:spPr>
          <a:xfrm>
            <a:off x="3477758" y="1167122"/>
            <a:ext cx="5348100" cy="17907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Video Name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3477758" y="1167122"/>
            <a:ext cx="5348100" cy="17907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idx="1" type="subTitle"/>
          </p:nvPr>
        </p:nvSpPr>
        <p:spPr>
          <a:xfrm>
            <a:off x="3477757" y="3366690"/>
            <a:ext cx="5348100" cy="124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274320" y="91356"/>
            <a:ext cx="8604000" cy="80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RAG?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274320" y="1032228"/>
            <a:ext cx="8604000" cy="341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" sz="1600"/>
              <a:t>Explanatory text about a concept</a:t>
            </a:r>
            <a:endParaRPr sz="1600"/>
          </a:p>
          <a:p>
            <a:pPr indent="-330200" lvl="0" marL="457200" rtl="0" algn="l">
              <a:spcBef>
                <a:spcPts val="75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Bulleted list item 1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Bulleted list item 2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Sub-bullet 1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Sub-bullet 2</a:t>
            </a:r>
            <a:endParaRPr sz="1600"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2550" y="375617"/>
            <a:ext cx="3156600" cy="152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5763" y="2497925"/>
            <a:ext cx="1870174" cy="19109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5991800" y="1938450"/>
            <a:ext cx="24981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include link to image source in speaker notes</a:t>
            </a:r>
            <a:endParaRPr i="1"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274320" y="91356"/>
            <a:ext cx="8604000" cy="80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 or image focused slide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713" y="871975"/>
            <a:ext cx="6809226" cy="32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3327288" y="4143600"/>
            <a:ext cx="24981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include link to image source in speaker notes</a:t>
            </a:r>
            <a:endParaRPr i="1"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274325" y="217300"/>
            <a:ext cx="8604000" cy="4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586C0"/>
                </a:solidFill>
                <a:latin typeface="Inconsolata"/>
                <a:ea typeface="Inconsolata"/>
                <a:cs typeface="Inconsolata"/>
                <a:sym typeface="Inconsolata"/>
              </a:rPr>
              <a:t>from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together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200">
                <a:solidFill>
                  <a:srgbClr val="C586C0"/>
                </a:solidFill>
                <a:latin typeface="Inconsolata"/>
                <a:ea typeface="Inconsolata"/>
                <a:cs typeface="Inconsolata"/>
                <a:sym typeface="Inconsolata"/>
              </a:rPr>
              <a:t>import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Together</a:t>
            </a:r>
            <a:endParaRPr sz="1200">
              <a:solidFill>
                <a:srgbClr val="9CDCFE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query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= </a:t>
            </a:r>
            <a:r>
              <a:rPr lang="en" sz="1200">
                <a:solidFill>
                  <a:srgbClr val="CE9178"/>
                </a:solidFill>
                <a:latin typeface="Inconsolata"/>
                <a:ea typeface="Inconsolata"/>
                <a:cs typeface="Inconsolata"/>
                <a:sym typeface="Inconsolata"/>
              </a:rPr>
              <a:t>"What are 'skip-level' meetings?"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200">
                <a:solidFill>
                  <a:srgbClr val="6A9955"/>
                </a:solidFill>
                <a:latin typeface="Inconsolata"/>
                <a:ea typeface="Inconsolata"/>
                <a:cs typeface="Inconsolata"/>
                <a:sym typeface="Inconsolata"/>
              </a:rPr>
              <a:t># we keep the same query - can change if we want</a:t>
            </a:r>
            <a:endParaRPr sz="1200">
              <a:solidFill>
                <a:srgbClr val="6A9955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586C0"/>
                </a:solidFill>
                <a:latin typeface="Inconsolata"/>
                <a:ea typeface="Inconsolata"/>
                <a:cs typeface="Inconsolata"/>
                <a:sym typeface="Inconsolata"/>
              </a:rPr>
              <a:t>def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200">
                <a:solidFill>
                  <a:srgbClr val="DCDCAA"/>
                </a:solidFill>
                <a:latin typeface="Inconsolata"/>
                <a:ea typeface="Inconsolata"/>
                <a:cs typeface="Inconsolata"/>
                <a:sym typeface="Inconsolata"/>
              </a:rPr>
              <a:t>rerank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query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: str,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chunks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: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List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[str],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top_k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= </a:t>
            </a:r>
            <a:r>
              <a:rPr lang="en" sz="1200">
                <a:solidFill>
                  <a:srgbClr val="B5CEA8"/>
                </a:solidFill>
                <a:latin typeface="Inconsolata"/>
                <a:ea typeface="Inconsolata"/>
                <a:cs typeface="Inconsolata"/>
                <a:sym typeface="Inconsolata"/>
              </a:rPr>
              <a:t>3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) -&gt;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List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[int]:</a:t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response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=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client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lang="en" sz="1200">
                <a:solidFill>
                  <a:srgbClr val="DCDCAA"/>
                </a:solidFill>
                <a:latin typeface="Inconsolata"/>
                <a:ea typeface="Inconsolata"/>
                <a:cs typeface="Inconsolata"/>
                <a:sym typeface="Inconsolata"/>
              </a:rPr>
              <a:t>rerank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lang="en" sz="1200">
                <a:solidFill>
                  <a:srgbClr val="DCDCAA"/>
                </a:solidFill>
                <a:latin typeface="Inconsolata"/>
                <a:ea typeface="Inconsolata"/>
                <a:cs typeface="Inconsolata"/>
                <a:sym typeface="Inconsolata"/>
              </a:rPr>
              <a:t>create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model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= </a:t>
            </a:r>
            <a:r>
              <a:rPr lang="en" sz="1200">
                <a:solidFill>
                  <a:srgbClr val="CE9178"/>
                </a:solidFill>
                <a:latin typeface="Inconsolata"/>
                <a:ea typeface="Inconsolata"/>
                <a:cs typeface="Inconsolata"/>
                <a:sym typeface="Inconsolata"/>
              </a:rPr>
              <a:t>"Salesforce/Llama-Rank-V1"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,</a:t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query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=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query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,</a:t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documents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=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chunks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,</a:t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top_n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=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top_k</a:t>
            </a:r>
            <a:endParaRPr sz="1200">
              <a:solidFill>
                <a:srgbClr val="9CDCFE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  )</a:t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lang="en" sz="1200">
                <a:solidFill>
                  <a:srgbClr val="C586C0"/>
                </a:solidFill>
                <a:latin typeface="Inconsolata"/>
                <a:ea typeface="Inconsolata"/>
                <a:cs typeface="Inconsolata"/>
                <a:sym typeface="Inconsolata"/>
              </a:rPr>
              <a:t>return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result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lang="en" sz="1200">
                <a:solidFill>
                  <a:srgbClr val="DCDCAA"/>
                </a:solidFill>
                <a:latin typeface="Inconsolata"/>
                <a:ea typeface="Inconsolata"/>
                <a:cs typeface="Inconsolata"/>
                <a:sym typeface="Inconsolata"/>
              </a:rPr>
              <a:t>index</a:t>
            </a:r>
            <a:endParaRPr sz="1200">
              <a:solidFill>
                <a:srgbClr val="DCDCAA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C586C0"/>
                </a:solidFill>
                <a:latin typeface="Inconsolata"/>
                <a:ea typeface="Inconsolata"/>
                <a:cs typeface="Inconsolata"/>
                <a:sym typeface="Inconsolata"/>
              </a:rPr>
              <a:t>for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result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200">
                <a:solidFill>
                  <a:srgbClr val="C586C0"/>
                </a:solidFill>
                <a:latin typeface="Inconsolata"/>
                <a:ea typeface="Inconsolata"/>
                <a:cs typeface="Inconsolata"/>
                <a:sym typeface="Inconsolata"/>
              </a:rPr>
              <a:t>in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response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lang="en" sz="1200">
                <a:solidFill>
                  <a:srgbClr val="DCDCAA"/>
                </a:solidFill>
                <a:latin typeface="Inconsolata"/>
                <a:ea typeface="Inconsolata"/>
                <a:cs typeface="Inconsolata"/>
                <a:sym typeface="Inconsolata"/>
              </a:rPr>
              <a:t>results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:</a:t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  print(</a:t>
            </a:r>
            <a:r>
              <a:rPr lang="en" sz="1200">
                <a:solidFill>
                  <a:srgbClr val="CE9178"/>
                </a:solidFill>
                <a:latin typeface="Inconsolata"/>
                <a:ea typeface="Inconsolata"/>
                <a:cs typeface="Inconsolata"/>
                <a:sym typeface="Inconsolata"/>
              </a:rPr>
              <a:t>f"Document: 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{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top_k_chunks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[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result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lang="en" sz="1200">
                <a:solidFill>
                  <a:srgbClr val="DCDCAA"/>
                </a:solidFill>
                <a:latin typeface="Inconsolata"/>
                <a:ea typeface="Inconsolata"/>
                <a:cs typeface="Inconsolata"/>
                <a:sym typeface="Inconsolata"/>
              </a:rPr>
              <a:t>index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]}</a:t>
            </a:r>
            <a:r>
              <a:rPr lang="en" sz="1200">
                <a:solidFill>
                  <a:srgbClr val="CE9178"/>
                </a:solidFill>
                <a:latin typeface="Inconsolata"/>
                <a:ea typeface="Inconsolata"/>
                <a:cs typeface="Inconsolata"/>
                <a:sym typeface="Inconsolata"/>
              </a:rPr>
              <a:t>"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   print(</a:t>
            </a:r>
            <a:r>
              <a:rPr lang="en" sz="1200">
                <a:solidFill>
                  <a:srgbClr val="CE9178"/>
                </a:solidFill>
                <a:latin typeface="Inconsolata"/>
                <a:ea typeface="Inconsolata"/>
                <a:cs typeface="Inconsolata"/>
                <a:sym typeface="Inconsolata"/>
              </a:rPr>
              <a:t>f"Relevance Score: 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{</a:t>
            </a:r>
            <a:r>
              <a:rPr lang="en" sz="1200">
                <a:solidFill>
                  <a:srgbClr val="9CDCFE"/>
                </a:solidFill>
                <a:latin typeface="Inconsolata"/>
                <a:ea typeface="Inconsolata"/>
                <a:cs typeface="Inconsolata"/>
                <a:sym typeface="Inconsolata"/>
              </a:rPr>
              <a:t>result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lang="en" sz="1200">
                <a:solidFill>
                  <a:srgbClr val="DCDCAA"/>
                </a:solidFill>
                <a:latin typeface="Inconsolata"/>
                <a:ea typeface="Inconsolata"/>
                <a:cs typeface="Inconsolata"/>
                <a:sym typeface="Inconsolata"/>
              </a:rPr>
              <a:t>relevance_score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}</a:t>
            </a:r>
            <a:r>
              <a:rPr lang="en" sz="1200">
                <a:solidFill>
                  <a:srgbClr val="CE9178"/>
                </a:solidFill>
                <a:latin typeface="Inconsolata"/>
                <a:ea typeface="Inconsolata"/>
                <a:cs typeface="Inconsolata"/>
                <a:sym typeface="Inconsolata"/>
              </a:rPr>
              <a:t>\n\n"</a:t>
            </a:r>
            <a:r>
              <a:rPr lang="en" sz="1200">
                <a:solidFill>
                  <a:srgbClr val="D4D4D4"/>
                </a:solidFill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sz="1200">
              <a:solidFill>
                <a:srgbClr val="D4D4D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DD0E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274320" y="91356"/>
            <a:ext cx="8604000" cy="80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two approaches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274320" y="1032319"/>
            <a:ext cx="4240500" cy="307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RAG</a:t>
            </a:r>
            <a:endParaRPr/>
          </a:p>
          <a:p>
            <a:pPr indent="-361950" lvl="0" marL="457200" rtl="0" algn="l">
              <a:spcBef>
                <a:spcPts val="75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Thing 1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Thing 2</a:t>
            </a:r>
            <a:endParaRPr/>
          </a:p>
        </p:txBody>
      </p:sp>
      <p:sp>
        <p:nvSpPr>
          <p:cNvPr id="105" name="Google Shape;105;p19"/>
          <p:cNvSpPr txBox="1"/>
          <p:nvPr>
            <p:ph idx="2" type="body"/>
          </p:nvPr>
        </p:nvSpPr>
        <p:spPr>
          <a:xfrm>
            <a:off x="4625445" y="1032318"/>
            <a:ext cx="4240500" cy="307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Fine-tuning</a:t>
            </a:r>
            <a:endParaRPr/>
          </a:p>
          <a:p>
            <a:pPr indent="-361950" lvl="0" marL="457200" rtl="0" algn="l">
              <a:spcBef>
                <a:spcPts val="75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Thing 1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Thing 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ctrTitle"/>
          </p:nvPr>
        </p:nvSpPr>
        <p:spPr>
          <a:xfrm>
            <a:off x="3477758" y="1167122"/>
            <a:ext cx="5348100" cy="17907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3477757" y="3366690"/>
            <a:ext cx="5348100" cy="124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274320" y="91356"/>
            <a:ext cx="8604000" cy="80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LAI Coral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